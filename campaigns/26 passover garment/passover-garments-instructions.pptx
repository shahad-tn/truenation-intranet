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$175 per garment, every man 15 and older, paid in full by November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Opening the link pops the Become a fundraiser window automatically — nothing to click on the page itself. The QR code goes to the same campaign link that is in the email, so anyone in the room can start from their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campaign target is the only field men are likely to get wrong — stress the multiplication for anyone covering 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Two things happen here — bookmarking the page, and setting the recurring amount. The bookmark matters because that page is the only way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Two things people miss — the garment recipient names, and the Zeffy tip defaulting to a non-zero amount. Close by reminding them the recurring charge runs until someone cancels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054"/>
        </a:solidFill>
      </p:bgPr>
    </p:bg>
    <p:spTree>
      <p:nvGrpSpPr>
        <p:cNvPr id="1" name=""/>
        <p:cNvGrpSpPr/>
        <p:nvPr/>
      </p:nvGrpSpPr>
      <p:grpSpPr>
        <a:xfrm>
          <a:off x="0" y="0"/>
          <a:ext cx="0" cy="0"/>
          <a:chOff x="0" y="0"/>
          <a:chExt cx="0" cy="0"/>
        </a:xfrm>
      </p:grpSpPr>
      <p:sp>
        <p:nvSpPr>
          <p:cNvPr id="2" name="Text 0"/>
          <p:cNvSpPr/>
          <p:nvPr/>
        </p:nvSpPr>
        <p:spPr>
          <a:xfrm>
            <a:off x="822960" y="1371600"/>
            <a:ext cx="7863840" cy="320040"/>
          </a:xfrm>
          <a:prstGeom prst="rect">
            <a:avLst/>
          </a:prstGeom>
          <a:noFill/>
          <a:ln/>
        </p:spPr>
        <p:txBody>
          <a:bodyPr wrap="square" lIns="0" tIns="0" rIns="0" bIns="0" rtlCol="0" anchor="ctr"/>
          <a:lstStyle/>
          <a:p>
            <a:pPr indent="0" marL="0">
              <a:buNone/>
            </a:pPr>
            <a:r>
              <a:rPr lang="en-US" sz="1300" b="1" spc="180" kern="0" dirty="0">
                <a:solidFill>
                  <a:srgbClr val="C8D4E6"/>
                </a:solidFill>
                <a:latin typeface="Arial" pitchFamily="34" charset="0"/>
                <a:ea typeface="Arial" pitchFamily="34" charset="-122"/>
                <a:cs typeface="Arial" pitchFamily="34" charset="-120"/>
              </a:rPr>
              <a:t>TRUE NATION ISRAELITE CONGREGATION</a:t>
            </a:r>
            <a:endParaRPr lang="en-US" sz="1300" dirty="0"/>
          </a:p>
        </p:txBody>
      </p:sp>
      <p:sp>
        <p:nvSpPr>
          <p:cNvPr id="3" name="Text 1"/>
          <p:cNvSpPr/>
          <p:nvPr/>
        </p:nvSpPr>
        <p:spPr>
          <a:xfrm>
            <a:off x="822960" y="2057400"/>
            <a:ext cx="7863840" cy="91440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Passover Garments</a:t>
            </a:r>
            <a:endParaRPr lang="en-US" sz="4600" dirty="0"/>
          </a:p>
        </p:txBody>
      </p:sp>
      <p:sp>
        <p:nvSpPr>
          <p:cNvPr id="4" name="Text 2"/>
          <p:cNvSpPr/>
          <p:nvPr/>
        </p:nvSpPr>
        <p:spPr>
          <a:xfrm>
            <a:off x="822960" y="2999232"/>
            <a:ext cx="7863840" cy="548640"/>
          </a:xfrm>
          <a:prstGeom prst="rect">
            <a:avLst/>
          </a:prstGeom>
          <a:noFill/>
          <a:ln/>
        </p:spPr>
        <p:txBody>
          <a:bodyPr wrap="square" lIns="0" tIns="0" rIns="0" bIns="0" rtlCol="0" anchor="ctr"/>
          <a:lstStyle/>
          <a:p>
            <a:pPr indent="0" marL="0">
              <a:buNone/>
            </a:pPr>
            <a:r>
              <a:rPr lang="en-US" sz="2000" dirty="0">
                <a:solidFill>
                  <a:srgbClr val="C8D4E6"/>
                </a:solidFill>
                <a:latin typeface="Arial" pitchFamily="34" charset="0"/>
                <a:ea typeface="Arial" pitchFamily="34" charset="-122"/>
                <a:cs typeface="Arial" pitchFamily="34" charset="-120"/>
              </a:rPr>
              <a:t>Setting up your payment page in four steps</a:t>
            </a:r>
            <a:endParaRPr lang="en-US" sz="2000" dirty="0"/>
          </a:p>
        </p:txBody>
      </p:sp>
      <p:sp>
        <p:nvSpPr>
          <p:cNvPr id="5" name="Shape 3"/>
          <p:cNvSpPr/>
          <p:nvPr/>
        </p:nvSpPr>
        <p:spPr>
          <a:xfrm>
            <a:off x="822960" y="3977640"/>
            <a:ext cx="5029200" cy="1371600"/>
          </a:xfrm>
          <a:prstGeom prst="roundRect">
            <a:avLst>
              <a:gd name="adj" fmla="val 6667"/>
            </a:avLst>
          </a:prstGeom>
          <a:solidFill>
            <a:srgbClr val="FDF8EC"/>
          </a:solidFill>
          <a:ln/>
        </p:spPr>
      </p:sp>
      <p:sp>
        <p:nvSpPr>
          <p:cNvPr id="6" name="Text 4"/>
          <p:cNvSpPr/>
          <p:nvPr/>
        </p:nvSpPr>
        <p:spPr>
          <a:xfrm>
            <a:off x="1097280" y="4160520"/>
            <a:ext cx="4480560" cy="502920"/>
          </a:xfrm>
          <a:prstGeom prst="rect">
            <a:avLst/>
          </a:prstGeom>
          <a:noFill/>
          <a:ln/>
        </p:spPr>
        <p:txBody>
          <a:bodyPr wrap="square" lIns="0" tIns="0" rIns="0" bIns="0" rtlCol="0" anchor="ctr"/>
          <a:lstStyle/>
          <a:p>
            <a:pPr indent="0" marL="0">
              <a:buNone/>
            </a:pPr>
            <a:r>
              <a:rPr lang="en-US" sz="2600" b="1" dirty="0">
                <a:solidFill>
                  <a:srgbClr val="7A5D14"/>
                </a:solidFill>
                <a:latin typeface="Arial" pitchFamily="34" charset="0"/>
                <a:ea typeface="Arial" pitchFamily="34" charset="-122"/>
                <a:cs typeface="Arial" pitchFamily="34" charset="-120"/>
              </a:rPr>
              <a:t>$175 per garment</a:t>
            </a:r>
            <a:endParaRPr lang="en-US" sz="2600" dirty="0"/>
          </a:p>
        </p:txBody>
      </p:sp>
      <p:sp>
        <p:nvSpPr>
          <p:cNvPr id="7" name="Text 5"/>
          <p:cNvSpPr/>
          <p:nvPr/>
        </p:nvSpPr>
        <p:spPr>
          <a:xfrm>
            <a:off x="1097280" y="4663440"/>
            <a:ext cx="4480560" cy="548640"/>
          </a:xfrm>
          <a:prstGeom prst="rect">
            <a:avLst/>
          </a:prstGeom>
          <a:noFill/>
          <a:ln/>
        </p:spPr>
        <p:txBody>
          <a:bodyPr wrap="square" lIns="0" tIns="0" rIns="0" bIns="0" rtlCol="0" anchor="ctr"/>
          <a:lstStyle/>
          <a:p>
            <a:pPr indent="0" marL="0">
              <a:buNone/>
            </a:pPr>
            <a:r>
              <a:rPr lang="en-US" sz="1300" dirty="0">
                <a:solidFill>
                  <a:srgbClr val="7A5D14"/>
                </a:solidFill>
                <a:latin typeface="Arial" pitchFamily="34" charset="0"/>
                <a:ea typeface="Arial" pitchFamily="34" charset="-122"/>
                <a:cs typeface="Arial" pitchFamily="34" charset="-120"/>
              </a:rPr>
              <a:t>Every man 15 and older  ·  Paid in full by Friday, November 13</a:t>
            </a:r>
            <a:endParaRPr lang="en-US" sz="1300" dirty="0"/>
          </a:p>
        </p:txBody>
      </p:sp>
      <p:sp>
        <p:nvSpPr>
          <p:cNvPr id="8" name="Text 6"/>
          <p:cNvSpPr/>
          <p:nvPr/>
        </p:nvSpPr>
        <p:spPr>
          <a:xfrm>
            <a:off x="822960" y="5943600"/>
            <a:ext cx="7315200" cy="320040"/>
          </a:xfrm>
          <a:prstGeom prst="rect">
            <a:avLst/>
          </a:prstGeom>
          <a:noFill/>
          <a:ln/>
        </p:spPr>
        <p:txBody>
          <a:bodyPr wrap="square" lIns="0" tIns="0" rIns="0" bIns="0" rtlCol="0" anchor="ctr"/>
          <a:lstStyle/>
          <a:p>
            <a:pPr indent="0" marL="0">
              <a:buNone/>
            </a:pPr>
            <a:r>
              <a:rPr lang="en-US" sz="1300" dirty="0">
                <a:solidFill>
                  <a:srgbClr val="C8D4E6"/>
                </a:solidFill>
                <a:latin typeface="Arial" pitchFamily="34" charset="0"/>
                <a:ea typeface="Arial" pitchFamily="34" charset="-122"/>
                <a:cs typeface="Arial" pitchFamily="34" charset="-120"/>
              </a:rPr>
              <a:t>truenation.org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566928"/>
            <a:ext cx="658368" cy="658368"/>
          </a:xfrm>
          <a:prstGeom prst="ellipse">
            <a:avLst/>
          </a:prstGeom>
          <a:solidFill>
            <a:srgbClr val="1C3054"/>
          </a:solidFill>
          <a:ln/>
        </p:spPr>
      </p:sp>
      <p:sp>
        <p:nvSpPr>
          <p:cNvPr id="3" name="Text 1"/>
          <p:cNvSpPr/>
          <p:nvPr/>
        </p:nvSpPr>
        <p:spPr>
          <a:xfrm>
            <a:off x="548640" y="56692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4" name="Text 2"/>
          <p:cNvSpPr/>
          <p:nvPr/>
        </p:nvSpPr>
        <p:spPr>
          <a:xfrm>
            <a:off x="1389888" y="548640"/>
            <a:ext cx="10241280" cy="713232"/>
          </a:xfrm>
          <a:prstGeom prst="rect">
            <a:avLst/>
          </a:prstGeom>
          <a:noFill/>
          <a:ln/>
        </p:spPr>
        <p:txBody>
          <a:bodyPr wrap="square" lIns="0" tIns="0" rIns="0" bIns="0" rtlCol="0" anchor="ctr"/>
          <a:lstStyle/>
          <a:p>
            <a:pPr indent="0" marL="0">
              <a:buNone/>
            </a:pPr>
            <a:r>
              <a:rPr lang="en-US" sz="3000" b="1" dirty="0">
                <a:solidFill>
                  <a:srgbClr val="1C3054"/>
                </a:solidFill>
                <a:latin typeface="Arial" pitchFamily="34" charset="0"/>
                <a:ea typeface="Arial" pitchFamily="34" charset="-122"/>
                <a:cs typeface="Arial" pitchFamily="34" charset="-120"/>
              </a:rPr>
              <a:t>Open the link</a:t>
            </a:r>
            <a:endParaRPr lang="en-US" sz="3000" dirty="0"/>
          </a:p>
        </p:txBody>
      </p:sp>
      <p:sp>
        <p:nvSpPr>
          <p:cNvPr id="5" name="Text 3"/>
          <p:cNvSpPr/>
          <p:nvPr/>
        </p:nvSpPr>
        <p:spPr>
          <a:xfrm>
            <a:off x="548640" y="1600200"/>
            <a:ext cx="4480560" cy="1005840"/>
          </a:xfrm>
          <a:prstGeom prst="rect">
            <a:avLst/>
          </a:prstGeom>
          <a:noFill/>
          <a:ln/>
        </p:spPr>
        <p:txBody>
          <a:bodyPr wrap="square" lIns="0" tIns="0" rIns="0" bIns="0" rtlCol="0" anchor="t"/>
          <a:lstStyle/>
          <a:p>
            <a:pPr indent="0" marL="0">
              <a:lnSpc>
                <a:spcPts val="2600"/>
              </a:lnSpc>
              <a:buNone/>
            </a:pPr>
            <a:r>
              <a:rPr lang="en-US" sz="1700" dirty="0">
                <a:solidFill>
                  <a:srgbClr val="2B3440"/>
                </a:solidFill>
                <a:latin typeface="Arial" pitchFamily="34" charset="0"/>
                <a:ea typeface="Arial" pitchFamily="34" charset="-122"/>
                <a:cs typeface="Arial" pitchFamily="34" charset="-120"/>
              </a:rPr>
              <a:t>The </a:t>
            </a:r>
            <a:pPr indent="0" marL="0">
              <a:lnSpc>
                <a:spcPts val="2600"/>
              </a:lnSpc>
              <a:buNone/>
            </a:pPr>
            <a:r>
              <a:rPr lang="en-US" sz="1700" b="1" dirty="0">
                <a:solidFill>
                  <a:srgbClr val="2B3440"/>
                </a:solidFill>
                <a:latin typeface="Arial" pitchFamily="34" charset="0"/>
                <a:ea typeface="Arial" pitchFamily="34" charset="-122"/>
                <a:cs typeface="Arial" pitchFamily="34" charset="-120"/>
              </a:rPr>
              <a:t>Become a fundraiser</a:t>
            </a:r>
            <a:pPr indent="0" marL="0">
              <a:lnSpc>
                <a:spcPts val="2600"/>
              </a:lnSpc>
              <a:buNone/>
            </a:pPr>
            <a:r>
              <a:rPr lang="en-US" sz="1700" dirty="0">
                <a:solidFill>
                  <a:srgbClr val="2B3440"/>
                </a:solidFill>
                <a:latin typeface="Arial" pitchFamily="34" charset="0"/>
                <a:ea typeface="Arial" pitchFamily="34" charset="-122"/>
                <a:cs typeface="Arial" pitchFamily="34" charset="-120"/>
              </a:rPr>
              <a:t> window opens on top of the campaign page.</a:t>
            </a:r>
            <a:endParaRPr lang="en-US" sz="1700" dirty="0"/>
          </a:p>
        </p:txBody>
      </p:sp>
      <p:sp>
        <p:nvSpPr>
          <p:cNvPr id="6" name="Shape 4"/>
          <p:cNvSpPr/>
          <p:nvPr/>
        </p:nvSpPr>
        <p:spPr>
          <a:xfrm>
            <a:off x="548640" y="2697480"/>
            <a:ext cx="4480560" cy="2286000"/>
          </a:xfrm>
          <a:prstGeom prst="roundRect">
            <a:avLst>
              <a:gd name="adj" fmla="val 3200"/>
            </a:avLst>
          </a:prstGeom>
          <a:solidFill>
            <a:srgbClr val="FDF8EC"/>
          </a:solidFill>
          <a:ln/>
        </p:spPr>
      </p:sp>
      <p:pic>
        <p:nvPicPr>
          <p:cNvPr id="7" name="Image 0" descr="qr.png">    </p:cNvPr>
          <p:cNvPicPr>
            <a:picLocks noChangeAspect="1"/>
          </p:cNvPicPr>
          <p:nvPr/>
        </p:nvPicPr>
        <p:blipFill>
          <a:blip r:embed="rId1"/>
          <a:stretch>
            <a:fillRect/>
          </a:stretch>
        </p:blipFill>
        <p:spPr>
          <a:xfrm>
            <a:off x="822960" y="2971800"/>
            <a:ext cx="1737360" cy="1737360"/>
          </a:xfrm>
          <a:prstGeom prst="rect">
            <a:avLst/>
          </a:prstGeom>
        </p:spPr>
      </p:pic>
      <p:sp>
        <p:nvSpPr>
          <p:cNvPr id="8" name="Text 5"/>
          <p:cNvSpPr/>
          <p:nvPr/>
        </p:nvSpPr>
        <p:spPr>
          <a:xfrm>
            <a:off x="2788920" y="3154680"/>
            <a:ext cx="2057400" cy="365760"/>
          </a:xfrm>
          <a:prstGeom prst="rect">
            <a:avLst/>
          </a:prstGeom>
          <a:noFill/>
          <a:ln/>
        </p:spPr>
        <p:txBody>
          <a:bodyPr wrap="square" lIns="0" tIns="0" rIns="0" bIns="0" rtlCol="0" anchor="ctr"/>
          <a:lstStyle/>
          <a:p>
            <a:pPr indent="0" marL="0">
              <a:buNone/>
            </a:pPr>
            <a:r>
              <a:rPr lang="en-US" sz="1700" b="1" dirty="0">
                <a:solidFill>
                  <a:srgbClr val="7A5D14"/>
                </a:solidFill>
                <a:latin typeface="Arial" pitchFamily="34" charset="0"/>
                <a:ea typeface="Arial" pitchFamily="34" charset="-122"/>
                <a:cs typeface="Arial" pitchFamily="34" charset="-120"/>
              </a:rPr>
              <a:t>Scan it</a:t>
            </a:r>
            <a:endParaRPr lang="en-US" sz="1700" dirty="0"/>
          </a:p>
        </p:txBody>
      </p:sp>
      <p:sp>
        <p:nvSpPr>
          <p:cNvPr id="9" name="Text 6"/>
          <p:cNvSpPr/>
          <p:nvPr/>
        </p:nvSpPr>
        <p:spPr>
          <a:xfrm>
            <a:off x="2788920" y="3547872"/>
            <a:ext cx="2057400" cy="1005840"/>
          </a:xfrm>
          <a:prstGeom prst="rect">
            <a:avLst/>
          </a:prstGeom>
          <a:noFill/>
          <a:ln/>
        </p:spPr>
        <p:txBody>
          <a:bodyPr wrap="square" lIns="0" tIns="0" rIns="0" bIns="0" rtlCol="0" anchor="ctr"/>
          <a:lstStyle/>
          <a:p>
            <a:pPr indent="0" marL="0">
              <a:lnSpc>
                <a:spcPts val="1700"/>
              </a:lnSpc>
              <a:buNone/>
            </a:pPr>
            <a:r>
              <a:rPr lang="en-US" sz="1300" dirty="0">
                <a:solidFill>
                  <a:srgbClr val="7A5D14"/>
                </a:solidFill>
                <a:latin typeface="Arial" pitchFamily="34" charset="0"/>
                <a:ea typeface="Arial" pitchFamily="34" charset="-122"/>
                <a:cs typeface="Arial" pitchFamily="34" charset="-120"/>
              </a:rPr>
              <a:t>Same link that is in the email from Faithful Seams.</a:t>
            </a:r>
            <a:endParaRPr lang="en-US" sz="1300" dirty="0"/>
          </a:p>
        </p:txBody>
      </p:sp>
      <p:sp>
        <p:nvSpPr>
          <p:cNvPr id="10" name="Shape 7"/>
          <p:cNvSpPr/>
          <p:nvPr/>
        </p:nvSpPr>
        <p:spPr>
          <a:xfrm>
            <a:off x="5445252" y="1559052"/>
            <a:ext cx="6208776" cy="3739896"/>
          </a:xfrm>
          <a:prstGeom prst="rect">
            <a:avLst/>
          </a:prstGeom>
          <a:solidFill>
            <a:srgbClr val="FFFFFF"/>
          </a:solidFill>
          <a:ln w="12700">
            <a:solidFill>
              <a:srgbClr val="DDD7CC"/>
            </a:solidFill>
            <a:prstDash val="solid"/>
          </a:ln>
          <a:effectLst>
            <a:outerShdw sx="100000" sy="100000" kx="0" ky="0" algn="bl" rotWithShape="0" blurRad="127000" dist="38100" dir="5400000">
              <a:srgbClr val="000000">
                <a:alpha val="13000"/>
              </a:srgbClr>
            </a:outerShdw>
          </a:effectLst>
        </p:spPr>
      </p:sp>
      <p:pic>
        <p:nvPicPr>
          <p:cNvPr id="11" name="Image 1" descr="crop0.png">    </p:cNvPr>
          <p:cNvPicPr>
            <a:picLocks noChangeAspect="1"/>
          </p:cNvPicPr>
          <p:nvPr/>
        </p:nvPicPr>
        <p:blipFill>
          <a:blip r:embed="rId2"/>
          <a:stretch>
            <a:fillRect/>
          </a:stretch>
        </p:blipFill>
        <p:spPr>
          <a:xfrm>
            <a:off x="5486400" y="1600200"/>
            <a:ext cx="6126480" cy="3657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566928"/>
            <a:ext cx="658368" cy="658368"/>
          </a:xfrm>
          <a:prstGeom prst="ellipse">
            <a:avLst/>
          </a:prstGeom>
          <a:solidFill>
            <a:srgbClr val="1C3054"/>
          </a:solidFill>
          <a:ln/>
        </p:spPr>
      </p:sp>
      <p:sp>
        <p:nvSpPr>
          <p:cNvPr id="3" name="Text 1"/>
          <p:cNvSpPr/>
          <p:nvPr/>
        </p:nvSpPr>
        <p:spPr>
          <a:xfrm>
            <a:off x="548640" y="56692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4" name="Text 2"/>
          <p:cNvSpPr/>
          <p:nvPr/>
        </p:nvSpPr>
        <p:spPr>
          <a:xfrm>
            <a:off x="1389888" y="548640"/>
            <a:ext cx="10241280" cy="713232"/>
          </a:xfrm>
          <a:prstGeom prst="rect">
            <a:avLst/>
          </a:prstGeom>
          <a:noFill/>
          <a:ln/>
        </p:spPr>
        <p:txBody>
          <a:bodyPr wrap="square" lIns="0" tIns="0" rIns="0" bIns="0" rtlCol="0" anchor="ctr"/>
          <a:lstStyle/>
          <a:p>
            <a:pPr indent="0" marL="0">
              <a:buNone/>
            </a:pPr>
            <a:r>
              <a:rPr lang="en-US" sz="3000" b="1" dirty="0">
                <a:solidFill>
                  <a:srgbClr val="1C3054"/>
                </a:solidFill>
                <a:latin typeface="Arial" pitchFamily="34" charset="0"/>
                <a:ea typeface="Arial" pitchFamily="34" charset="-122"/>
                <a:cs typeface="Arial" pitchFamily="34" charset="-120"/>
              </a:rPr>
              <a:t>Fill it out, then click Create campaign</a:t>
            </a:r>
            <a:endParaRPr lang="en-US" sz="3000" dirty="0"/>
          </a:p>
        </p:txBody>
      </p:sp>
      <p:sp>
        <p:nvSpPr>
          <p:cNvPr id="5" name="Text 3"/>
          <p:cNvSpPr/>
          <p:nvPr/>
        </p:nvSpPr>
        <p:spPr>
          <a:xfrm>
            <a:off x="548640" y="1572768"/>
            <a:ext cx="5394960" cy="274320"/>
          </a:xfrm>
          <a:prstGeom prst="rect">
            <a:avLst/>
          </a:prstGeom>
          <a:noFill/>
          <a:ln/>
        </p:spPr>
        <p:txBody>
          <a:bodyPr wrap="square" lIns="0" tIns="0" rIns="0" bIns="0" rtlCol="0" anchor="ctr"/>
          <a:lstStyle/>
          <a:p>
            <a:pPr indent="0" marL="0">
              <a:buNone/>
            </a:pPr>
            <a:r>
              <a:rPr lang="en-US" sz="1400" b="1" dirty="0">
                <a:solidFill>
                  <a:srgbClr val="1C3054"/>
                </a:solidFill>
                <a:latin typeface="Arial" pitchFamily="34" charset="0"/>
                <a:ea typeface="Arial" pitchFamily="34" charset="-122"/>
                <a:cs typeface="Arial" pitchFamily="34" charset="-120"/>
              </a:rPr>
              <a:t>Solo campaign</a:t>
            </a:r>
            <a:endParaRPr lang="en-US" sz="1400" dirty="0"/>
          </a:p>
        </p:txBody>
      </p:sp>
      <p:sp>
        <p:nvSpPr>
          <p:cNvPr id="6" name="Text 4"/>
          <p:cNvSpPr/>
          <p:nvPr/>
        </p:nvSpPr>
        <p:spPr>
          <a:xfrm>
            <a:off x="548640" y="1837944"/>
            <a:ext cx="5394960" cy="566928"/>
          </a:xfrm>
          <a:prstGeom prst="rect">
            <a:avLst/>
          </a:prstGeom>
          <a:noFill/>
          <a:ln/>
        </p:spPr>
        <p:txBody>
          <a:bodyPr wrap="square" lIns="0" tIns="0" rIns="0" bIns="0" rtlCol="0" anchor="ctr"/>
          <a:lstStyle/>
          <a:p>
            <a:pPr indent="0" marL="0">
              <a:lnSpc>
                <a:spcPts val="1700"/>
              </a:lnSpc>
              <a:buNone/>
            </a:pPr>
            <a:r>
              <a:rPr lang="en-US" sz="1300" dirty="0">
                <a:solidFill>
                  <a:srgbClr val="4A5460"/>
                </a:solidFill>
                <a:latin typeface="Arial" pitchFamily="34" charset="0"/>
                <a:ea typeface="Arial" pitchFamily="34" charset="-122"/>
                <a:cs typeface="Arial" pitchFamily="34" charset="-120"/>
              </a:rPr>
              <a:t>Already selected. It is the only option — leave it alone.</a:t>
            </a:r>
            <a:endParaRPr lang="en-US" sz="1300" dirty="0"/>
          </a:p>
        </p:txBody>
      </p:sp>
      <p:sp>
        <p:nvSpPr>
          <p:cNvPr id="7" name="Text 5"/>
          <p:cNvSpPr/>
          <p:nvPr/>
        </p:nvSpPr>
        <p:spPr>
          <a:xfrm>
            <a:off x="548640" y="2468880"/>
            <a:ext cx="5394960" cy="274320"/>
          </a:xfrm>
          <a:prstGeom prst="rect">
            <a:avLst/>
          </a:prstGeom>
          <a:noFill/>
          <a:ln/>
        </p:spPr>
        <p:txBody>
          <a:bodyPr wrap="square" lIns="0" tIns="0" rIns="0" bIns="0" rtlCol="0" anchor="ctr"/>
          <a:lstStyle/>
          <a:p>
            <a:pPr indent="0" marL="0">
              <a:buNone/>
            </a:pPr>
            <a:r>
              <a:rPr lang="en-US" sz="1400" b="1" dirty="0">
                <a:solidFill>
                  <a:srgbClr val="1C3054"/>
                </a:solidFill>
                <a:latin typeface="Arial" pitchFamily="34" charset="0"/>
                <a:ea typeface="Arial" pitchFamily="34" charset="-122"/>
                <a:cs typeface="Arial" pitchFamily="34" charset="-120"/>
              </a:rPr>
              <a:t>Campaign target</a:t>
            </a:r>
            <a:endParaRPr lang="en-US" sz="1400" dirty="0"/>
          </a:p>
        </p:txBody>
      </p:sp>
      <p:sp>
        <p:nvSpPr>
          <p:cNvPr id="8" name="Text 6"/>
          <p:cNvSpPr/>
          <p:nvPr/>
        </p:nvSpPr>
        <p:spPr>
          <a:xfrm>
            <a:off x="548640" y="2734056"/>
            <a:ext cx="5394960" cy="566928"/>
          </a:xfrm>
          <a:prstGeom prst="rect">
            <a:avLst/>
          </a:prstGeom>
          <a:noFill/>
          <a:ln/>
        </p:spPr>
        <p:txBody>
          <a:bodyPr wrap="square" lIns="0" tIns="0" rIns="0" bIns="0" rtlCol="0" anchor="ctr"/>
          <a:lstStyle/>
          <a:p>
            <a:pPr indent="0" marL="0">
              <a:lnSpc>
                <a:spcPts val="1700"/>
              </a:lnSpc>
              <a:buNone/>
            </a:pPr>
            <a:r>
              <a:rPr lang="en-US" sz="1300" dirty="0">
                <a:solidFill>
                  <a:srgbClr val="4A5460"/>
                </a:solidFill>
                <a:latin typeface="Arial" pitchFamily="34" charset="0"/>
                <a:ea typeface="Arial" pitchFamily="34" charset="-122"/>
                <a:cs typeface="Arial" pitchFamily="34" charset="-120"/>
              </a:rPr>
              <a:t>$175 × how many garments you are buying. One $175, two $350, three $525, four $700.</a:t>
            </a:r>
            <a:endParaRPr lang="en-US" sz="1300" dirty="0"/>
          </a:p>
        </p:txBody>
      </p:sp>
      <p:sp>
        <p:nvSpPr>
          <p:cNvPr id="9" name="Text 7"/>
          <p:cNvSpPr/>
          <p:nvPr/>
        </p:nvSpPr>
        <p:spPr>
          <a:xfrm>
            <a:off x="548640" y="3364992"/>
            <a:ext cx="5394960" cy="274320"/>
          </a:xfrm>
          <a:prstGeom prst="rect">
            <a:avLst/>
          </a:prstGeom>
          <a:noFill/>
          <a:ln/>
        </p:spPr>
        <p:txBody>
          <a:bodyPr wrap="square" lIns="0" tIns="0" rIns="0" bIns="0" rtlCol="0" anchor="ctr"/>
          <a:lstStyle/>
          <a:p>
            <a:pPr indent="0" marL="0">
              <a:buNone/>
            </a:pPr>
            <a:r>
              <a:rPr lang="en-US" sz="1400" b="1" dirty="0">
                <a:solidFill>
                  <a:srgbClr val="1C3054"/>
                </a:solidFill>
                <a:latin typeface="Arial" pitchFamily="34" charset="0"/>
                <a:ea typeface="Arial" pitchFamily="34" charset="-122"/>
                <a:cs typeface="Arial" pitchFamily="34" charset="-120"/>
              </a:rPr>
              <a:t>First / last name</a:t>
            </a:r>
            <a:endParaRPr lang="en-US" sz="1400" dirty="0"/>
          </a:p>
        </p:txBody>
      </p:sp>
      <p:sp>
        <p:nvSpPr>
          <p:cNvPr id="10" name="Text 8"/>
          <p:cNvSpPr/>
          <p:nvPr/>
        </p:nvSpPr>
        <p:spPr>
          <a:xfrm>
            <a:off x="548640" y="3630168"/>
            <a:ext cx="5394960" cy="566928"/>
          </a:xfrm>
          <a:prstGeom prst="rect">
            <a:avLst/>
          </a:prstGeom>
          <a:noFill/>
          <a:ln/>
        </p:spPr>
        <p:txBody>
          <a:bodyPr wrap="square" lIns="0" tIns="0" rIns="0" bIns="0" rtlCol="0" anchor="ctr"/>
          <a:lstStyle/>
          <a:p>
            <a:pPr indent="0" marL="0">
              <a:lnSpc>
                <a:spcPts val="1700"/>
              </a:lnSpc>
              <a:buNone/>
            </a:pPr>
            <a:r>
              <a:rPr lang="en-US" sz="1300" dirty="0">
                <a:solidFill>
                  <a:srgbClr val="4A5460"/>
                </a:solidFill>
                <a:latin typeface="Arial" pitchFamily="34" charset="0"/>
                <a:ea typeface="Arial" pitchFamily="34" charset="-122"/>
                <a:cs typeface="Arial" pitchFamily="34" charset="-120"/>
              </a:rPr>
              <a:t>Yours. This is how we know whose page it is.</a:t>
            </a:r>
            <a:endParaRPr lang="en-US" sz="1300" dirty="0"/>
          </a:p>
        </p:txBody>
      </p:sp>
      <p:sp>
        <p:nvSpPr>
          <p:cNvPr id="11" name="Text 9"/>
          <p:cNvSpPr/>
          <p:nvPr/>
        </p:nvSpPr>
        <p:spPr>
          <a:xfrm>
            <a:off x="548640" y="4261104"/>
            <a:ext cx="5394960" cy="274320"/>
          </a:xfrm>
          <a:prstGeom prst="rect">
            <a:avLst/>
          </a:prstGeom>
          <a:noFill/>
          <a:ln/>
        </p:spPr>
        <p:txBody>
          <a:bodyPr wrap="square" lIns="0" tIns="0" rIns="0" bIns="0" rtlCol="0" anchor="ctr"/>
          <a:lstStyle/>
          <a:p>
            <a:pPr indent="0" marL="0">
              <a:buNone/>
            </a:pPr>
            <a:r>
              <a:rPr lang="en-US" sz="1400" b="1" dirty="0">
                <a:solidFill>
                  <a:srgbClr val="1C3054"/>
                </a:solidFill>
                <a:latin typeface="Arial" pitchFamily="34" charset="0"/>
                <a:ea typeface="Arial" pitchFamily="34" charset="-122"/>
                <a:cs typeface="Arial" pitchFamily="34" charset="-120"/>
              </a:rPr>
              <a:t>Email</a:t>
            </a:r>
            <a:endParaRPr lang="en-US" sz="1400" dirty="0"/>
          </a:p>
        </p:txBody>
      </p:sp>
      <p:sp>
        <p:nvSpPr>
          <p:cNvPr id="12" name="Text 10"/>
          <p:cNvSpPr/>
          <p:nvPr/>
        </p:nvSpPr>
        <p:spPr>
          <a:xfrm>
            <a:off x="548640" y="4526280"/>
            <a:ext cx="5394960" cy="566928"/>
          </a:xfrm>
          <a:prstGeom prst="rect">
            <a:avLst/>
          </a:prstGeom>
          <a:noFill/>
          <a:ln/>
        </p:spPr>
        <p:txBody>
          <a:bodyPr wrap="square" lIns="0" tIns="0" rIns="0" bIns="0" rtlCol="0" anchor="ctr"/>
          <a:lstStyle/>
          <a:p>
            <a:pPr indent="0" marL="0">
              <a:lnSpc>
                <a:spcPts val="1700"/>
              </a:lnSpc>
              <a:buNone/>
            </a:pPr>
            <a:r>
              <a:rPr lang="en-US" sz="1300" dirty="0">
                <a:solidFill>
                  <a:srgbClr val="4A5460"/>
                </a:solidFill>
                <a:latin typeface="Arial" pitchFamily="34" charset="0"/>
                <a:ea typeface="Arial" pitchFamily="34" charset="-122"/>
                <a:cs typeface="Arial" pitchFamily="34" charset="-120"/>
              </a:rPr>
              <a:t>Where your receipts go.</a:t>
            </a:r>
            <a:endParaRPr lang="en-US" sz="1300" dirty="0"/>
          </a:p>
        </p:txBody>
      </p:sp>
      <p:sp>
        <p:nvSpPr>
          <p:cNvPr id="13" name="Text 11"/>
          <p:cNvSpPr/>
          <p:nvPr/>
        </p:nvSpPr>
        <p:spPr>
          <a:xfrm>
            <a:off x="548640" y="5157216"/>
            <a:ext cx="5394960" cy="274320"/>
          </a:xfrm>
          <a:prstGeom prst="rect">
            <a:avLst/>
          </a:prstGeom>
          <a:noFill/>
          <a:ln/>
        </p:spPr>
        <p:txBody>
          <a:bodyPr wrap="square" lIns="0" tIns="0" rIns="0" bIns="0" rtlCol="0" anchor="ctr"/>
          <a:lstStyle/>
          <a:p>
            <a:pPr indent="0" marL="0">
              <a:buNone/>
            </a:pPr>
            <a:r>
              <a:rPr lang="en-US" sz="1400" b="1" dirty="0">
                <a:solidFill>
                  <a:srgbClr val="1C3054"/>
                </a:solidFill>
                <a:latin typeface="Arial" pitchFamily="34" charset="0"/>
                <a:ea typeface="Arial" pitchFamily="34" charset="-122"/>
                <a:cs typeface="Arial" pitchFamily="34" charset="-120"/>
              </a:rPr>
              <a:t>Profile photo</a:t>
            </a:r>
            <a:endParaRPr lang="en-US" sz="1400" dirty="0"/>
          </a:p>
        </p:txBody>
      </p:sp>
      <p:sp>
        <p:nvSpPr>
          <p:cNvPr id="14" name="Text 12"/>
          <p:cNvSpPr/>
          <p:nvPr/>
        </p:nvSpPr>
        <p:spPr>
          <a:xfrm>
            <a:off x="548640" y="5422392"/>
            <a:ext cx="5394960" cy="566928"/>
          </a:xfrm>
          <a:prstGeom prst="rect">
            <a:avLst/>
          </a:prstGeom>
          <a:noFill/>
          <a:ln/>
        </p:spPr>
        <p:txBody>
          <a:bodyPr wrap="square" lIns="0" tIns="0" rIns="0" bIns="0" rtlCol="0" anchor="ctr"/>
          <a:lstStyle/>
          <a:p>
            <a:pPr indent="0" marL="0">
              <a:lnSpc>
                <a:spcPts val="1700"/>
              </a:lnSpc>
              <a:buNone/>
            </a:pPr>
            <a:r>
              <a:rPr lang="en-US" sz="1300" dirty="0">
                <a:solidFill>
                  <a:srgbClr val="4A5460"/>
                </a:solidFill>
                <a:latin typeface="Arial" pitchFamily="34" charset="0"/>
                <a:ea typeface="Arial" pitchFamily="34" charset="-122"/>
                <a:cs typeface="Arial" pitchFamily="34" charset="-120"/>
              </a:rPr>
              <a:t>Optional. Add one if you want.</a:t>
            </a:r>
            <a:endParaRPr lang="en-US" sz="1300" dirty="0"/>
          </a:p>
        </p:txBody>
      </p:sp>
      <p:sp>
        <p:nvSpPr>
          <p:cNvPr id="15" name="Shape 13"/>
          <p:cNvSpPr/>
          <p:nvPr/>
        </p:nvSpPr>
        <p:spPr>
          <a:xfrm>
            <a:off x="6725412" y="1531620"/>
            <a:ext cx="4928616" cy="4169664"/>
          </a:xfrm>
          <a:prstGeom prst="rect">
            <a:avLst/>
          </a:prstGeom>
          <a:solidFill>
            <a:srgbClr val="FFFFFF"/>
          </a:solidFill>
          <a:ln w="12700">
            <a:solidFill>
              <a:srgbClr val="DDD7CC"/>
            </a:solidFill>
            <a:prstDash val="solid"/>
          </a:ln>
          <a:effectLst>
            <a:outerShdw sx="100000" sy="100000" kx="0" ky="0" algn="bl" rotWithShape="0" blurRad="127000" dist="38100" dir="5400000">
              <a:srgbClr val="000000">
                <a:alpha val="13000"/>
              </a:srgbClr>
            </a:outerShdw>
          </a:effectLst>
        </p:spPr>
      </p:sp>
      <p:pic>
        <p:nvPicPr>
          <p:cNvPr id="16" name="Image 0" descr="crop1.png">    </p:cNvPr>
          <p:cNvPicPr>
            <a:picLocks noChangeAspect="1"/>
          </p:cNvPicPr>
          <p:nvPr/>
        </p:nvPicPr>
        <p:blipFill>
          <a:blip r:embed="rId1"/>
          <a:stretch>
            <a:fillRect/>
          </a:stretch>
        </p:blipFill>
        <p:spPr>
          <a:xfrm>
            <a:off x="6766560" y="1572768"/>
            <a:ext cx="4846320" cy="40873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566928"/>
            <a:ext cx="658368" cy="658368"/>
          </a:xfrm>
          <a:prstGeom prst="ellipse">
            <a:avLst/>
          </a:prstGeom>
          <a:solidFill>
            <a:srgbClr val="1C3054"/>
          </a:solidFill>
          <a:ln/>
        </p:spPr>
      </p:sp>
      <p:sp>
        <p:nvSpPr>
          <p:cNvPr id="3" name="Text 1"/>
          <p:cNvSpPr/>
          <p:nvPr/>
        </p:nvSpPr>
        <p:spPr>
          <a:xfrm>
            <a:off x="548640" y="56692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4" name="Text 2"/>
          <p:cNvSpPr/>
          <p:nvPr/>
        </p:nvSpPr>
        <p:spPr>
          <a:xfrm>
            <a:off x="1389888" y="548640"/>
            <a:ext cx="10241280" cy="713232"/>
          </a:xfrm>
          <a:prstGeom prst="rect">
            <a:avLst/>
          </a:prstGeom>
          <a:noFill/>
          <a:ln/>
        </p:spPr>
        <p:txBody>
          <a:bodyPr wrap="square" lIns="0" tIns="0" rIns="0" bIns="0" rtlCol="0" anchor="ctr"/>
          <a:lstStyle/>
          <a:p>
            <a:pPr indent="0" marL="0">
              <a:buNone/>
            </a:pPr>
            <a:r>
              <a:rPr lang="en-US" sz="3000" b="1" dirty="0">
                <a:solidFill>
                  <a:srgbClr val="1C3054"/>
                </a:solidFill>
                <a:latin typeface="Arial" pitchFamily="34" charset="0"/>
                <a:ea typeface="Arial" pitchFamily="34" charset="-122"/>
                <a:cs typeface="Arial" pitchFamily="34" charset="-120"/>
              </a:rPr>
              <a:t>Bookmark the page, then make your first payment</a:t>
            </a:r>
            <a:endParaRPr lang="en-US" sz="3000" dirty="0"/>
          </a:p>
        </p:txBody>
      </p:sp>
      <p:sp>
        <p:nvSpPr>
          <p:cNvPr id="5" name="Text 3"/>
          <p:cNvSpPr/>
          <p:nvPr/>
        </p:nvSpPr>
        <p:spPr>
          <a:xfrm>
            <a:off x="548640" y="1572768"/>
            <a:ext cx="4114800" cy="1554480"/>
          </a:xfrm>
          <a:prstGeom prst="rect">
            <a:avLst/>
          </a:prstGeom>
          <a:noFill/>
          <a:ln/>
        </p:spPr>
        <p:txBody>
          <a:bodyPr wrap="square" lIns="0" tIns="0" rIns="0" bIns="0" rtlCol="0" anchor="t"/>
          <a:lstStyle/>
          <a:p>
            <a:pPr indent="0" marL="0">
              <a:lnSpc>
                <a:spcPts val="2400"/>
              </a:lnSpc>
              <a:buNone/>
            </a:pPr>
            <a:r>
              <a:rPr lang="en-US" sz="1600" dirty="0">
                <a:solidFill>
                  <a:srgbClr val="2B3440"/>
                </a:solidFill>
                <a:latin typeface="Arial" pitchFamily="34" charset="0"/>
                <a:ea typeface="Arial" pitchFamily="34" charset="-122"/>
                <a:cs typeface="Arial" pitchFamily="34" charset="-120"/>
              </a:rPr>
              <a:t>Your campaign is live. Click </a:t>
            </a:r>
            <a:pPr indent="0" marL="0">
              <a:lnSpc>
                <a:spcPts val="2400"/>
              </a:lnSpc>
              <a:buNone/>
            </a:pPr>
            <a:r>
              <a:rPr lang="en-US" sz="1600" b="1" dirty="0">
                <a:solidFill>
                  <a:srgbClr val="2B3440"/>
                </a:solidFill>
                <a:latin typeface="Arial" pitchFamily="34" charset="0"/>
                <a:ea typeface="Arial" pitchFamily="34" charset="-122"/>
                <a:cs typeface="Arial" pitchFamily="34" charset="-120"/>
              </a:rPr>
              <a:t>View campaign</a:t>
            </a:r>
            <a:pPr indent="0" marL="0">
              <a:lnSpc>
                <a:spcPts val="2400"/>
              </a:lnSpc>
              <a:buNone/>
            </a:pPr>
            <a:r>
              <a:rPr lang="en-US" sz="1600" dirty="0">
                <a:solidFill>
                  <a:srgbClr val="2B3440"/>
                </a:solidFill>
                <a:latin typeface="Arial" pitchFamily="34" charset="0"/>
                <a:ea typeface="Arial" pitchFamily="34" charset="-122"/>
                <a:cs typeface="Arial" pitchFamily="34" charset="-120"/>
              </a:rPr>
              <a:t> and bookmark it. This is your page — open it again any time to pay or to check where you stand.</a:t>
            </a:r>
            <a:endParaRPr lang="en-US" sz="1600" dirty="0"/>
          </a:p>
        </p:txBody>
      </p:sp>
      <p:sp>
        <p:nvSpPr>
          <p:cNvPr id="6" name="Shape 4"/>
          <p:cNvSpPr/>
          <p:nvPr/>
        </p:nvSpPr>
        <p:spPr>
          <a:xfrm>
            <a:off x="548640" y="3291840"/>
            <a:ext cx="4114800" cy="2148840"/>
          </a:xfrm>
          <a:prstGeom prst="roundRect">
            <a:avLst>
              <a:gd name="adj" fmla="val 3404"/>
            </a:avLst>
          </a:prstGeom>
          <a:solidFill>
            <a:srgbClr val="FDF8EC"/>
          </a:solidFill>
          <a:ln/>
        </p:spPr>
      </p:sp>
      <p:sp>
        <p:nvSpPr>
          <p:cNvPr id="7" name="Text 5"/>
          <p:cNvSpPr/>
          <p:nvPr/>
        </p:nvSpPr>
        <p:spPr>
          <a:xfrm>
            <a:off x="777240" y="3474720"/>
            <a:ext cx="3657600" cy="320040"/>
          </a:xfrm>
          <a:prstGeom prst="rect">
            <a:avLst/>
          </a:prstGeom>
          <a:noFill/>
          <a:ln/>
        </p:spPr>
        <p:txBody>
          <a:bodyPr wrap="square" lIns="0" tIns="0" rIns="0" bIns="0" rtlCol="0" anchor="ctr"/>
          <a:lstStyle/>
          <a:p>
            <a:pPr indent="0" marL="0">
              <a:buNone/>
            </a:pPr>
            <a:r>
              <a:rPr lang="en-US" sz="1500" b="1" dirty="0">
                <a:solidFill>
                  <a:srgbClr val="7A5D14"/>
                </a:solidFill>
                <a:latin typeface="Arial" pitchFamily="34" charset="0"/>
                <a:ea typeface="Arial" pitchFamily="34" charset="-122"/>
                <a:cs typeface="Arial" pitchFamily="34" charset="-120"/>
              </a:rPr>
              <a:t>Then choose Monthly</a:t>
            </a:r>
            <a:endParaRPr lang="en-US" sz="1500" dirty="0"/>
          </a:p>
        </p:txBody>
      </p:sp>
      <p:sp>
        <p:nvSpPr>
          <p:cNvPr id="8" name="Text 6"/>
          <p:cNvSpPr/>
          <p:nvPr/>
        </p:nvSpPr>
        <p:spPr>
          <a:xfrm>
            <a:off x="777240" y="3840480"/>
            <a:ext cx="3657600" cy="960120"/>
          </a:xfrm>
          <a:prstGeom prst="rect">
            <a:avLst/>
          </a:prstGeom>
          <a:noFill/>
          <a:ln/>
        </p:spPr>
        <p:txBody>
          <a:bodyPr wrap="square" lIns="0" tIns="0" rIns="0" bIns="0" rtlCol="0" anchor="ctr"/>
          <a:lstStyle/>
          <a:p>
            <a:pPr indent="0" marL="0">
              <a:lnSpc>
                <a:spcPts val="2200"/>
              </a:lnSpc>
              <a:buNone/>
            </a:pPr>
            <a:r>
              <a:rPr lang="en-US" sz="1400" dirty="0">
                <a:solidFill>
                  <a:srgbClr val="7A5D14"/>
                </a:solidFill>
                <a:latin typeface="Arial" pitchFamily="34" charset="0"/>
                <a:ea typeface="Arial" pitchFamily="34" charset="-122"/>
                <a:cs typeface="Arial" pitchFamily="34" charset="-120"/>
              </a:rPr>
              <a:t>Set up by Aug 13 — $44 a month</a:t>
            </a:r>
            <a:endParaRPr lang="en-US" sz="1400" dirty="0"/>
          </a:p>
          <a:p>
            <a:pPr indent="0" marL="0">
              <a:lnSpc>
                <a:spcPts val="2200"/>
              </a:lnSpc>
              <a:buNone/>
            </a:pPr>
            <a:r>
              <a:rPr lang="en-US" sz="1400" dirty="0">
                <a:solidFill>
                  <a:srgbClr val="7A5D14"/>
                </a:solidFill>
                <a:latin typeface="Arial" pitchFamily="34" charset="0"/>
                <a:ea typeface="Arial" pitchFamily="34" charset="-122"/>
                <a:cs typeface="Arial" pitchFamily="34" charset="-120"/>
              </a:rPr>
              <a:t>Set up by Sep 13 — $58 a month</a:t>
            </a:r>
            <a:endParaRPr lang="en-US" sz="1400" dirty="0"/>
          </a:p>
          <a:p>
            <a:pPr indent="0" marL="0">
              <a:lnSpc>
                <a:spcPts val="2200"/>
              </a:lnSpc>
              <a:buNone/>
            </a:pPr>
            <a:r>
              <a:rPr lang="en-US" sz="1400" dirty="0">
                <a:solidFill>
                  <a:srgbClr val="7A5D14"/>
                </a:solidFill>
                <a:latin typeface="Arial" pitchFamily="34" charset="0"/>
                <a:ea typeface="Arial" pitchFamily="34" charset="-122"/>
                <a:cs typeface="Arial" pitchFamily="34" charset="-120"/>
              </a:rPr>
              <a:t>Set up by Oct 13 — $87.50 a month</a:t>
            </a:r>
            <a:endParaRPr lang="en-US" sz="1400" dirty="0"/>
          </a:p>
        </p:txBody>
      </p:sp>
      <p:sp>
        <p:nvSpPr>
          <p:cNvPr id="9" name="Text 7"/>
          <p:cNvSpPr/>
          <p:nvPr/>
        </p:nvSpPr>
        <p:spPr>
          <a:xfrm>
            <a:off x="777240" y="4846320"/>
            <a:ext cx="3657600" cy="411480"/>
          </a:xfrm>
          <a:prstGeom prst="rect">
            <a:avLst/>
          </a:prstGeom>
          <a:noFill/>
          <a:ln/>
        </p:spPr>
        <p:txBody>
          <a:bodyPr wrap="square" lIns="0" tIns="0" rIns="0" bIns="0" rtlCol="0" anchor="ctr"/>
          <a:lstStyle/>
          <a:p>
            <a:pPr indent="0" marL="0">
              <a:buNone/>
            </a:pPr>
            <a:r>
              <a:rPr lang="en-US" sz="1200" i="1" dirty="0">
                <a:solidFill>
                  <a:srgbClr val="7A5D14"/>
                </a:solidFill>
                <a:latin typeface="Arial" pitchFamily="34" charset="0"/>
                <a:ea typeface="Arial" pitchFamily="34" charset="-122"/>
                <a:cs typeface="Arial" pitchFamily="34" charset="-120"/>
              </a:rPr>
              <a:t>Zeffy charges on the same date you sign up.</a:t>
            </a:r>
            <a:endParaRPr lang="en-US" sz="1200" dirty="0"/>
          </a:p>
        </p:txBody>
      </p:sp>
      <p:sp>
        <p:nvSpPr>
          <p:cNvPr id="10" name="Shape 8"/>
          <p:cNvSpPr/>
          <p:nvPr/>
        </p:nvSpPr>
        <p:spPr>
          <a:xfrm>
            <a:off x="5353812" y="1531620"/>
            <a:ext cx="3557016" cy="2194560"/>
          </a:xfrm>
          <a:prstGeom prst="rect">
            <a:avLst/>
          </a:prstGeom>
          <a:solidFill>
            <a:srgbClr val="FFFFFF"/>
          </a:solidFill>
          <a:ln w="12700">
            <a:solidFill>
              <a:srgbClr val="DDD7CC"/>
            </a:solidFill>
            <a:prstDash val="solid"/>
          </a:ln>
          <a:effectLst>
            <a:outerShdw sx="100000" sy="100000" kx="0" ky="0" algn="bl" rotWithShape="0" blurRad="127000" dist="38100" dir="5400000">
              <a:srgbClr val="000000">
                <a:alpha val="13000"/>
              </a:srgbClr>
            </a:outerShdw>
          </a:effectLst>
        </p:spPr>
      </p:sp>
      <p:pic>
        <p:nvPicPr>
          <p:cNvPr id="11" name="Image 0" descr="crop2.png">    </p:cNvPr>
          <p:cNvPicPr>
            <a:picLocks noChangeAspect="1"/>
          </p:cNvPicPr>
          <p:nvPr/>
        </p:nvPicPr>
        <p:blipFill>
          <a:blip r:embed="rId1"/>
          <a:stretch>
            <a:fillRect/>
          </a:stretch>
        </p:blipFill>
        <p:spPr>
          <a:xfrm>
            <a:off x="5394960" y="1572768"/>
            <a:ext cx="3474720" cy="2112264"/>
          </a:xfrm>
          <a:prstGeom prst="rect">
            <a:avLst/>
          </a:prstGeom>
        </p:spPr>
      </p:pic>
      <p:sp>
        <p:nvSpPr>
          <p:cNvPr id="12" name="Shape 9"/>
          <p:cNvSpPr/>
          <p:nvPr/>
        </p:nvSpPr>
        <p:spPr>
          <a:xfrm>
            <a:off x="5353812" y="3936492"/>
            <a:ext cx="6300216" cy="2203704"/>
          </a:xfrm>
          <a:prstGeom prst="rect">
            <a:avLst/>
          </a:prstGeom>
          <a:solidFill>
            <a:srgbClr val="FFFFFF"/>
          </a:solidFill>
          <a:ln w="12700">
            <a:solidFill>
              <a:srgbClr val="DDD7CC"/>
            </a:solidFill>
            <a:prstDash val="solid"/>
          </a:ln>
          <a:effectLst>
            <a:outerShdw sx="100000" sy="100000" kx="0" ky="0" algn="bl" rotWithShape="0" blurRad="127000" dist="38100" dir="5400000">
              <a:srgbClr val="000000">
                <a:alpha val="13000"/>
              </a:srgbClr>
            </a:outerShdw>
          </a:effectLst>
        </p:spPr>
      </p:sp>
      <p:pic>
        <p:nvPicPr>
          <p:cNvPr id="13" name="Image 1" descr="crop3.png">    </p:cNvPr>
          <p:cNvPicPr>
            <a:picLocks noChangeAspect="1"/>
          </p:cNvPicPr>
          <p:nvPr/>
        </p:nvPicPr>
        <p:blipFill>
          <a:blip r:embed="rId2"/>
          <a:stretch>
            <a:fillRect/>
          </a:stretch>
        </p:blipFill>
        <p:spPr>
          <a:xfrm>
            <a:off x="5394960" y="3977640"/>
            <a:ext cx="6217920" cy="21214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66928"/>
            <a:ext cx="658368" cy="658368"/>
          </a:xfrm>
          <a:prstGeom prst="ellipse">
            <a:avLst/>
          </a:prstGeom>
          <a:solidFill>
            <a:srgbClr val="1C3054"/>
          </a:solidFill>
          <a:ln/>
        </p:spPr>
      </p:sp>
      <p:sp>
        <p:nvSpPr>
          <p:cNvPr id="3" name="Text 1"/>
          <p:cNvSpPr/>
          <p:nvPr/>
        </p:nvSpPr>
        <p:spPr>
          <a:xfrm>
            <a:off x="548640" y="56692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4" name="Text 2"/>
          <p:cNvSpPr/>
          <p:nvPr/>
        </p:nvSpPr>
        <p:spPr>
          <a:xfrm>
            <a:off x="1389888" y="548640"/>
            <a:ext cx="10241280" cy="713232"/>
          </a:xfrm>
          <a:prstGeom prst="rect">
            <a:avLst/>
          </a:prstGeom>
          <a:noFill/>
          <a:ln/>
        </p:spPr>
        <p:txBody>
          <a:bodyPr wrap="square" lIns="0" tIns="0" rIns="0" bIns="0" rtlCol="0" anchor="ctr"/>
          <a:lstStyle/>
          <a:p>
            <a:pPr indent="0" marL="0">
              <a:buNone/>
            </a:pPr>
            <a:r>
              <a:rPr lang="en-US" sz="3000" b="1" dirty="0">
                <a:solidFill>
                  <a:srgbClr val="1C3054"/>
                </a:solidFill>
                <a:latin typeface="Arial" pitchFamily="34" charset="0"/>
                <a:ea typeface="Arial" pitchFamily="34" charset="-122"/>
                <a:cs typeface="Arial" pitchFamily="34" charset="-120"/>
              </a:rPr>
              <a:t>Answer the questions and donate</a:t>
            </a:r>
            <a:endParaRPr lang="en-US" sz="3000" dirty="0"/>
          </a:p>
        </p:txBody>
      </p:sp>
      <p:sp>
        <p:nvSpPr>
          <p:cNvPr id="5" name="Text 3"/>
          <p:cNvSpPr/>
          <p:nvPr/>
        </p:nvSpPr>
        <p:spPr>
          <a:xfrm>
            <a:off x="548640" y="1600200"/>
            <a:ext cx="5486400" cy="320040"/>
          </a:xfrm>
          <a:prstGeom prst="rect">
            <a:avLst/>
          </a:prstGeom>
          <a:noFill/>
          <a:ln/>
        </p:spPr>
        <p:txBody>
          <a:bodyPr wrap="square" lIns="0" tIns="0" rIns="0" bIns="0" rtlCol="0" anchor="ctr"/>
          <a:lstStyle/>
          <a:p>
            <a:pPr indent="0" marL="0">
              <a:buNone/>
            </a:pPr>
            <a:r>
              <a:rPr lang="en-US" sz="1600" b="1" dirty="0">
                <a:solidFill>
                  <a:srgbClr val="1C3054"/>
                </a:solidFill>
                <a:latin typeface="Arial" pitchFamily="34" charset="0"/>
                <a:ea typeface="Arial" pitchFamily="34" charset="-122"/>
                <a:cs typeface="Arial" pitchFamily="34" charset="-120"/>
              </a:rPr>
              <a:t>Full Name(s) of Garment Recipient(s)</a:t>
            </a:r>
            <a:endParaRPr lang="en-US" sz="1600" dirty="0"/>
          </a:p>
        </p:txBody>
      </p:sp>
      <p:sp>
        <p:nvSpPr>
          <p:cNvPr id="6" name="Text 4"/>
          <p:cNvSpPr/>
          <p:nvPr/>
        </p:nvSpPr>
        <p:spPr>
          <a:xfrm>
            <a:off x="548640" y="1938528"/>
            <a:ext cx="5486400" cy="594360"/>
          </a:xfrm>
          <a:prstGeom prst="rect">
            <a:avLst/>
          </a:prstGeom>
          <a:noFill/>
          <a:ln/>
        </p:spPr>
        <p:txBody>
          <a:bodyPr wrap="square" lIns="0" tIns="0" rIns="0" bIns="0" rtlCol="0" anchor="ctr"/>
          <a:lstStyle/>
          <a:p>
            <a:pPr indent="0" marL="0">
              <a:lnSpc>
                <a:spcPts val="1900"/>
              </a:lnSpc>
              <a:buNone/>
            </a:pPr>
            <a:r>
              <a:rPr lang="en-US" sz="1400" dirty="0">
                <a:solidFill>
                  <a:srgbClr val="4A5460"/>
                </a:solidFill>
                <a:latin typeface="Arial" pitchFamily="34" charset="0"/>
                <a:ea typeface="Arial" pitchFamily="34" charset="-122"/>
                <a:cs typeface="Arial" pitchFamily="34" charset="-120"/>
              </a:rPr>
              <a:t>Required. List everyone the garments are being made for, yourself included.</a:t>
            </a:r>
            <a:endParaRPr lang="en-US" sz="1400" dirty="0"/>
          </a:p>
        </p:txBody>
      </p:sp>
      <p:sp>
        <p:nvSpPr>
          <p:cNvPr id="7" name="Text 5"/>
          <p:cNvSpPr/>
          <p:nvPr/>
        </p:nvSpPr>
        <p:spPr>
          <a:xfrm>
            <a:off x="548640" y="2743200"/>
            <a:ext cx="5486400" cy="320040"/>
          </a:xfrm>
          <a:prstGeom prst="rect">
            <a:avLst/>
          </a:prstGeom>
          <a:noFill/>
          <a:ln/>
        </p:spPr>
        <p:txBody>
          <a:bodyPr wrap="square" lIns="0" tIns="0" rIns="0" bIns="0" rtlCol="0" anchor="ctr"/>
          <a:lstStyle/>
          <a:p>
            <a:pPr indent="0" marL="0">
              <a:buNone/>
            </a:pPr>
            <a:r>
              <a:rPr lang="en-US" sz="1600" b="1" dirty="0">
                <a:solidFill>
                  <a:srgbClr val="1C3054"/>
                </a:solidFill>
                <a:latin typeface="Arial" pitchFamily="34" charset="0"/>
                <a:ea typeface="Arial" pitchFamily="34" charset="-122"/>
                <a:cs typeface="Arial" pitchFamily="34" charset="-120"/>
              </a:rPr>
              <a:t>Optional contribution to Zeffy</a:t>
            </a:r>
            <a:endParaRPr lang="en-US" sz="1600" dirty="0"/>
          </a:p>
        </p:txBody>
      </p:sp>
      <p:sp>
        <p:nvSpPr>
          <p:cNvPr id="8" name="Text 6"/>
          <p:cNvSpPr/>
          <p:nvPr/>
        </p:nvSpPr>
        <p:spPr>
          <a:xfrm>
            <a:off x="548640" y="3081528"/>
            <a:ext cx="5486400" cy="1097280"/>
          </a:xfrm>
          <a:prstGeom prst="rect">
            <a:avLst/>
          </a:prstGeom>
          <a:noFill/>
          <a:ln/>
        </p:spPr>
        <p:txBody>
          <a:bodyPr wrap="square" lIns="0" tIns="0" rIns="0" bIns="0" rtlCol="0" anchor="ctr"/>
          <a:lstStyle/>
          <a:p>
            <a:pPr indent="0" marL="0">
              <a:lnSpc>
                <a:spcPts val="1900"/>
              </a:lnSpc>
              <a:buNone/>
            </a:pPr>
            <a:r>
              <a:rPr lang="en-US" sz="1400" dirty="0">
                <a:solidFill>
                  <a:srgbClr val="4A5460"/>
                </a:solidFill>
                <a:latin typeface="Arial" pitchFamily="34" charset="0"/>
                <a:ea typeface="Arial" pitchFamily="34" charset="-122"/>
                <a:cs typeface="Arial" pitchFamily="34" charset="-120"/>
              </a:rPr>
              <a:t>Zeffy is free for the congregation because they ask donors for a tip. It is optional. To skip it, set the dropdown to Other and enter $0 — your total will be exactly what you meant to pay.</a:t>
            </a:r>
            <a:endParaRPr lang="en-US" sz="1400" dirty="0"/>
          </a:p>
        </p:txBody>
      </p:sp>
      <p:sp>
        <p:nvSpPr>
          <p:cNvPr id="9" name="Shape 7"/>
          <p:cNvSpPr/>
          <p:nvPr/>
        </p:nvSpPr>
        <p:spPr>
          <a:xfrm>
            <a:off x="548640" y="4434840"/>
            <a:ext cx="5486400" cy="1325880"/>
          </a:xfrm>
          <a:prstGeom prst="roundRect">
            <a:avLst>
              <a:gd name="adj" fmla="val 5517"/>
            </a:avLst>
          </a:prstGeom>
          <a:solidFill>
            <a:srgbClr val="FDF8EC"/>
          </a:solidFill>
          <a:ln/>
        </p:spPr>
      </p:sp>
      <p:sp>
        <p:nvSpPr>
          <p:cNvPr id="10" name="Text 8"/>
          <p:cNvSpPr/>
          <p:nvPr/>
        </p:nvSpPr>
        <p:spPr>
          <a:xfrm>
            <a:off x="777240" y="4599432"/>
            <a:ext cx="5029200" cy="320040"/>
          </a:xfrm>
          <a:prstGeom prst="rect">
            <a:avLst/>
          </a:prstGeom>
          <a:noFill/>
          <a:ln/>
        </p:spPr>
        <p:txBody>
          <a:bodyPr wrap="square" lIns="0" tIns="0" rIns="0" bIns="0" rtlCol="0" anchor="ctr"/>
          <a:lstStyle/>
          <a:p>
            <a:pPr indent="0" marL="0">
              <a:buNone/>
            </a:pPr>
            <a:r>
              <a:rPr lang="en-US" sz="1400" b="1" dirty="0">
                <a:solidFill>
                  <a:srgbClr val="7A5D14"/>
                </a:solidFill>
                <a:latin typeface="Arial" pitchFamily="34" charset="0"/>
                <a:ea typeface="Arial" pitchFamily="34" charset="-122"/>
                <a:cs typeface="Arial" pitchFamily="34" charset="-120"/>
              </a:rPr>
              <a:t>Monthly payments do not stop on their own.</a:t>
            </a:r>
            <a:endParaRPr lang="en-US" sz="1400" dirty="0"/>
          </a:p>
        </p:txBody>
      </p:sp>
      <p:sp>
        <p:nvSpPr>
          <p:cNvPr id="11" name="Text 9"/>
          <p:cNvSpPr/>
          <p:nvPr/>
        </p:nvSpPr>
        <p:spPr>
          <a:xfrm>
            <a:off x="777240" y="4937760"/>
            <a:ext cx="5029200" cy="685800"/>
          </a:xfrm>
          <a:prstGeom prst="rect">
            <a:avLst/>
          </a:prstGeom>
          <a:noFill/>
          <a:ln/>
        </p:spPr>
        <p:txBody>
          <a:bodyPr wrap="square" lIns="0" tIns="0" rIns="0" bIns="0" rtlCol="0" anchor="ctr"/>
          <a:lstStyle/>
          <a:p>
            <a:pPr indent="0" marL="0">
              <a:lnSpc>
                <a:spcPts val="1700"/>
              </a:lnSpc>
              <a:buNone/>
            </a:pPr>
            <a:r>
              <a:rPr lang="en-US" sz="1200" dirty="0">
                <a:solidFill>
                  <a:srgbClr val="7A5D14"/>
                </a:solidFill>
                <a:latin typeface="Arial" pitchFamily="34" charset="0"/>
                <a:ea typeface="Arial" pitchFamily="34" charset="-122"/>
                <a:cs typeface="Arial" pitchFamily="34" charset="-120"/>
              </a:rPr>
              <a:t>After your final payment, cancel it from your Zeffy account or email support@truenation.org and Finance will stop it for you.</a:t>
            </a:r>
            <a:endParaRPr lang="en-US" sz="1200" dirty="0"/>
          </a:p>
        </p:txBody>
      </p:sp>
      <p:sp>
        <p:nvSpPr>
          <p:cNvPr id="12" name="Shape 10"/>
          <p:cNvSpPr/>
          <p:nvPr/>
        </p:nvSpPr>
        <p:spPr>
          <a:xfrm>
            <a:off x="6816852" y="1531620"/>
            <a:ext cx="4288536" cy="4096512"/>
          </a:xfrm>
          <a:prstGeom prst="rect">
            <a:avLst/>
          </a:prstGeom>
          <a:solidFill>
            <a:srgbClr val="FFFFFF"/>
          </a:solidFill>
          <a:ln w="12700">
            <a:solidFill>
              <a:srgbClr val="DDD7CC"/>
            </a:solidFill>
            <a:prstDash val="solid"/>
          </a:ln>
          <a:effectLst>
            <a:outerShdw sx="100000" sy="100000" kx="0" ky="0" algn="bl" rotWithShape="0" blurRad="127000" dist="38100" dir="5400000">
              <a:srgbClr val="000000">
                <a:alpha val="13000"/>
              </a:srgbClr>
            </a:outerShdw>
          </a:effectLst>
        </p:spPr>
      </p:sp>
      <p:pic>
        <p:nvPicPr>
          <p:cNvPr id="13" name="Image 0" descr="crop4.png">    </p:cNvPr>
          <p:cNvPicPr>
            <a:picLocks noChangeAspect="1"/>
          </p:cNvPicPr>
          <p:nvPr/>
        </p:nvPicPr>
        <p:blipFill>
          <a:blip r:embed="rId1"/>
          <a:stretch>
            <a:fillRect/>
          </a:stretch>
        </p:blipFill>
        <p:spPr>
          <a:xfrm>
            <a:off x="6858000" y="1572768"/>
            <a:ext cx="4206240" cy="40142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2026-08-01T08:04:04Z</dcterms:created>
  <dcterms:modified xsi:type="dcterms:W3CDTF">2026-08-01T08:04:04Z</dcterms:modified>
</cp:coreProperties>
</file>